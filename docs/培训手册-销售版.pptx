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26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51560"/>
            <a:ext cx="102280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SALES TRAINING MANUAL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0" y="2514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00584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销售操作培训手册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24128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从登录到线索闭环 —— 一份就能上手的日常操作指南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4128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适用对象  </a:t>
            </a:r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 · 销售主管        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  </a:t>
            </a:r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v1.0        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  </a:t>
            </a:r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crm.chinanhd.com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24128" y="6199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进步源自创新，微小可以宏大。　Progress Originates from Innovation. Many a Micro Makes a Macro.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开始之前 · 你每天的主线工作流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Before You Start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一句话：把 WhatsApp、官网客服等多渠道客户消息统一到一个工作台，你在这里回复客户、把有价值的客户录成线索，并在 CRM 里一路推进到成交。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176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收到客户消息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WhatsApp / 官网，及时回复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159252" y="201168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38144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02736" y="2176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621024" y="2697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录成线索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21024" y="3017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右侧资料面板 →「更新线索」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57316" y="201168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236208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176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19088" y="2697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完善资料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19088" y="3017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 / 技术信息 / 负责人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755380" y="201168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9034272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98864" y="2176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217152" y="2697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推进闭环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217152" y="3017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记录跟进、转客户 / 转项目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" y="3703320"/>
            <a:ext cx="10908792" cy="260604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 w="15875">
            <a:solidFill>
              <a:srgbClr val="BDBDBD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822960" y="3703320"/>
            <a:ext cx="105430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📷  放图位置
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官网客服入口 / 对话工作台 / 更新线索 —— 3 张，横向铺开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登录与账号 · 首次登录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Login &amp; Account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70432" y="1426464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收到邀请邮件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管理员据登记表向你邮箱发送 CRM 邀请邮件，点链接进入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70432" y="2322576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自行设置密码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首次进入按提示自己设置密码（无统一初始密码）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2552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70432" y="3218688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登录系统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之后访问 crm.chinanhd.com，用邮箱 + 你的密码登录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41513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70432" y="4114800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进入工作台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左侧导航栏，顶部进入「对话工作台」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92240" y="1463040"/>
            <a:ext cx="5056632" cy="4206240"/>
          </a:xfrm>
          <a:prstGeom prst="roundRect">
            <a:avLst>
              <a:gd name="adj" fmla="val 1739"/>
            </a:avLst>
          </a:prstGeom>
          <a:solidFill>
            <a:srgbClr val="F5F5F5"/>
          </a:solidFill>
          <a:ln w="15875">
            <a:solidFill>
              <a:srgbClr val="BDBDBD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6675120" y="1463040"/>
            <a:ext cx="46908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📷  放图位置
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 / 欢迎页（04-登录页）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登录与账号 · 忘记密码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Reset Password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57276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方式一 · 自助邮件重置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登录页点「忘记密码」→ 输入邮箱 → 收到重置链接邮件 → 点开设置新密码。适合还记得邮箱、邮箱能收信。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31012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方式二 · 找管理员重置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联系后台管理员，管理员在后台为你重置新密码再告知你。适合收不到邮件 / 情况紧急。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498348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5038344"/>
            <a:ext cx="54864" cy="7589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4983480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　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只有后台管理员能帮别人重置；重置后请第一时间改成自己的专属密码。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92240" y="1463040"/>
            <a:ext cx="5056632" cy="4389120"/>
          </a:xfrm>
          <a:prstGeom prst="roundRect">
            <a:avLst>
              <a:gd name="adj" fmla="val 1667"/>
            </a:avLst>
          </a:prstGeom>
          <a:solidFill>
            <a:srgbClr val="F5F5F5"/>
          </a:solidFill>
          <a:ln w="15875">
            <a:solidFill>
              <a:srgbClr val="BDBDBD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6675120" y="1463040"/>
            <a:ext cx="46908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📷  放图位置
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 → 个人资料 → 更改密码（05-更改密码）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三种身份 · 能看到的数据不一样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Roles &amp; Visibility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00400"/>
                <a:gridCol w="514807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身份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可见范围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典型权限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后台管理员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全部数据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管理成员、重置密码、查看所有会话与线索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销售主管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团队数据（逐步开放）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查看团队成员的线索与会话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销售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自己负责的数据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处理自己的会话、维护自己负责的线索 / 客户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WhatsApp 绑定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WhatsApp Binding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70432" y="1380744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进入渠道设置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 → 账户 → 渠道，找到 WhatsApp 绑定区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3134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70432" y="2276856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发起绑定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点「绑定 / 连接」，出现二维码或配对码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2095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70432" y="3172968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手机扫码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手机 WhatsApp →「已连接的设备」→ 扫码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41056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70432" y="4069080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确认成功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页面显示「已连接 / 在线」即成功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5029200"/>
            <a:ext cx="5486400" cy="1280160"/>
          </a:xfrm>
          <a:prstGeom prst="roundRect">
            <a:avLst>
              <a:gd name="adj" fmla="val 4286"/>
            </a:avLst>
          </a:prstGeom>
          <a:solidFill>
            <a:srgbClr val="F5F5F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5084064"/>
            <a:ext cx="54864" cy="1170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5029200"/>
            <a:ext cx="5102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　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① 一个号同一时间只能绑一个 CRM 账号；② 手机需保持联网，否则掉线；③ 不要短时间大量群发，个人号有风控风险。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92240" y="1417320"/>
            <a:ext cx="5056632" cy="4892040"/>
          </a:xfrm>
          <a:prstGeom prst="roundRect">
            <a:avLst>
              <a:gd name="adj" fmla="val 1495"/>
            </a:avLst>
          </a:prstGeom>
          <a:solidFill>
            <a:srgbClr val="F5F5F5"/>
          </a:solidFill>
          <a:ln w="15875">
            <a:solidFill>
              <a:srgbClr val="BDBDBD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6675120" y="1417320"/>
            <a:ext cx="469087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📷  放图位置
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渠道设置页 + 扫码绑定（暂不放，待补充）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对话工作台 · 界面三大区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Conversation Workspace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7040880" cy="4846320"/>
          </a:xfrm>
          <a:prstGeom prst="roundRect">
            <a:avLst>
              <a:gd name="adj" fmla="val 1509"/>
            </a:avLst>
          </a:prstGeom>
          <a:solidFill>
            <a:srgbClr val="F5F5F5"/>
          </a:solidFill>
          <a:ln w="15875">
            <a:solidFill>
              <a:srgbClr val="BDBDBD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822960" y="1417320"/>
            <a:ext cx="6675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📷  放图位置
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对话工作台全景（07-工作台人工接管）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955280" y="1417320"/>
            <a:ext cx="3593592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527048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① 会话列表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38160" y="1920240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按最近消息排序，未读有角标，新消息实时置顶，可搜索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55280" y="2990088"/>
            <a:ext cx="3593592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3099816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② 消息区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38160" y="3493008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与客户的聊天记录，收发文字与附件都在这里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55280" y="4562856"/>
            <a:ext cx="3593592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4672584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③ 资料面板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38160" y="5065776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客户资料 +「更新线索」，把客户录入 / 更新到 CRM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收发消息与附件 · 人工接管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Messaging &amp; Attachments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70432" y="1380744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选中会话回复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左侧点开客户 → 下方输入框打字 → 发送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3134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70432" y="2276856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发送附件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点附件按钮，选图片 / PDF / 文档发送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2095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70432" y="3172968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查看客户附件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客户发来的文件点击即可打开 / 下载，保留原始文件名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16052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4215384"/>
            <a:ext cx="54864" cy="804672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" y="4160520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5F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人工接管　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开了 AI 自动回复的会话，你一手动回复即由你接管、AI 停止；随时可直接接手任意对话。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92240" y="1417320"/>
            <a:ext cx="5056632" cy="4572000"/>
          </a:xfrm>
          <a:prstGeom prst="roundRect">
            <a:avLst>
              <a:gd name="adj" fmla="val 1600"/>
            </a:avLst>
          </a:prstGeom>
          <a:solidFill>
            <a:srgbClr val="F5F5F5"/>
          </a:solidFill>
          <a:ln w="15875">
            <a:solidFill>
              <a:srgbClr val="BDBDBD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675120" y="1417320"/>
            <a:ext cx="46908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📷  放图位置
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消息里的附件（08-工作台附件）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客服配置开关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Auto-Reply Toggle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智能客服可以在你不在时先接住客户。当前版本你在工作台只需管两个开关：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02996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开关一 · 渠道「自动回复」开 / 关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决定这个渠道（如官网客服）是否由 AI 先自动回复客户。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239512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202996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开关二 · 每日生效时间段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设定 AI 每天哪个时间段自动回复（如下班后、休息日）。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361188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3666744"/>
            <a:ext cx="54864" cy="804672"/>
          </a:xfrm>
          <a:prstGeom prst="rect">
            <a:avLst/>
          </a:prstGeom>
          <a:solidFill>
            <a:srgbClr val="1A8754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3611880"/>
            <a:ext cx="1052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A875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怎么用　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上班时间关掉 AI 自己回，保证专业沟通；下班 / 节假日打开 AI，让客户不至于无人应答。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70916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4764024"/>
            <a:ext cx="54864" cy="804672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4709160"/>
            <a:ext cx="1052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5F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说明　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话术、允许回答的问题范围、知识库、敏感词等复杂策略不在工作台，由管理员在设置页统一配置。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线索录入与推进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 Entry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70432" y="1380744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填写客户信息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右侧资料面板填姓名、公司、WhatsApp、邮箱、国家、来源、阶段、需求产品、备注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3134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70432" y="2276856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选择公司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搜索库内已有公司；搜不到就直接新建，避免重复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2095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70432" y="3172968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点「更新线索」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 / 更新到 Opportunity，系统自动补编码、时间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343400"/>
            <a:ext cx="5486400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4398264"/>
            <a:ext cx="54864" cy="896112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" y="4343400"/>
            <a:ext cx="5102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5F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提示　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官网询盘表单会自动建成线索并标注「来源=官网表单、进度=未处理线索」，无需手工录入。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92240" y="1417320"/>
            <a:ext cx="5056632" cy="4846320"/>
          </a:xfrm>
          <a:prstGeom prst="roundRect">
            <a:avLst>
              <a:gd name="adj" fmla="val 1509"/>
            </a:avLst>
          </a:prstGeom>
          <a:solidFill>
            <a:srgbClr val="F5F5F5"/>
          </a:solidFill>
          <a:ln w="15875">
            <a:solidFill>
              <a:srgbClr val="BDBDBD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675120" y="1417320"/>
            <a:ext cx="469087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📷  放图位置
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资料面板录入线索（07-工作台人工接管）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转客户 / 转项目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Convert Lead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勾选目标线索 → 点线索列表顶部「转客户」→ 二次确认 → 生成对应客户（People）。
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类似地可「转项目」，进入项目跟踪。
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操作前有二次确认；若失败会弹出明确的失败原因，按提示处理即可。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92240" y="1463040"/>
            <a:ext cx="5056632" cy="4389120"/>
          </a:xfrm>
          <a:prstGeom prst="roundRect">
            <a:avLst>
              <a:gd name="adj" fmla="val 1667"/>
            </a:avLst>
          </a:prstGeom>
          <a:solidFill>
            <a:srgbClr val="F5F5F5"/>
          </a:solidFill>
          <a:ln w="15875">
            <a:solidFill>
              <a:srgbClr val="BDBDBD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675120" y="1463040"/>
            <a:ext cx="46908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📷  放图位置
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线索列表「确认转为客户」弹窗（09-转客户确认）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客户资料 · 负责人 / 协办人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Owner &amp; Collaborator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05663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字段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含义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影响</a:t>
                      </a:r>
                      <a:endParaRPr lang="en-US" sz="13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负责人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客户 / 线索的主责销售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决定谁能看到、谁在跟；数据归属核心依据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协办人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协助跟进的同事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用于协作场景，可与主责一起跟进</a:t>
                      </a:r>
                      <a:endParaRPr lang="en-US" sz="13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4206240"/>
            <a:ext cx="10908792" cy="118872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40080" y="4261104"/>
            <a:ext cx="54864" cy="10789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5"/>
          <p:cNvSpPr/>
          <p:nvPr/>
        </p:nvSpPr>
        <p:spPr>
          <a:xfrm>
            <a:off x="859536" y="4206240"/>
            <a:ext cx="10524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务必填对　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负责人直接关系到数据可见范围（销售只看自己负责的）。填错会导致客户在你列表里消失，或别人看不到；离职交接时把负责人改成新同事即可移交。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跟进记录 · 附件汇总 · 数据关联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Follow-up &amp; More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52704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跟进记录（最新跟进）
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现在是富文本字段，在线索「最新跟进」里直接编辑、可多行排版。当前为富文本形式，不再是时间线。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5486400" cy="1371600"/>
          </a:xfrm>
          <a:prstGeom prst="roundRect">
            <a:avLst>
              <a:gd name="adj" fmla="val 466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12724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按线索汇总附件
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线索详情页悬浮「📎 附件」入口，汇总该客户横跨所有渠道收发过的全部文件。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4572000"/>
            <a:ext cx="5486400" cy="1280160"/>
          </a:xfrm>
          <a:prstGeom prst="roundRect">
            <a:avLst>
              <a:gd name="adj" fmla="val 4286"/>
            </a:avLst>
          </a:prstGeom>
          <a:solidFill>
            <a:srgbClr val="F5F5F5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4626864"/>
            <a:ext cx="54864" cy="1170432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4572000"/>
            <a:ext cx="5102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5F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数据关联　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联系人 / 公司 / 商机 / 项目共享部分信息，当前通过「字段自动同步」保持一致——一处更新、关联记录自动带过去。暂不支持记录间点击跳转。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92240" y="1417320"/>
            <a:ext cx="5056632" cy="4434840"/>
          </a:xfrm>
          <a:prstGeom prst="roundRect">
            <a:avLst>
              <a:gd name="adj" fmla="val 1649"/>
            </a:avLst>
          </a:prstGeom>
          <a:solidFill>
            <a:srgbClr val="F5F5F5"/>
          </a:solidFill>
          <a:ln w="15875">
            <a:solidFill>
              <a:srgbClr val="BDBDBD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6675120" y="1417320"/>
            <a:ext cx="46908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📷  放图位置
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线索「最新跟进」富文本（10-最新跟进富文本）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6002" y="475488"/>
            <a:ext cx="69287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E12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附录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600200" y="402336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快速对照表 · 我想做…去哪里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618488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Quick Reference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我想……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去哪里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回复客户消息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5C5C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对话工作台 · 消息区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绑定 / 解绑 WhatsApp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5C5C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设置 → 账户 → 渠道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把客户录成线索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5C5C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资料面板 →「更新线索」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开 / 关 AI 自动回复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5C5C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工作台 · 渠道 AI 开关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转客户 / 转项目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5C5C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线索列表顶部按钮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我想……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去哪里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看客户所有附件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5C5C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线索详情 ·「📎 附件」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记录跟进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5C5C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线索「最新跟进」富文本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改负责人（交接）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5C5C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线索 / 客户 · 负责人字段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0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忘记密码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5C5C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登录页「忘记密码」或找管理员</a:t>
                      </a:r>
                      <a:endParaRPr lang="en-US" sz="125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新宏大 AI 智能 CRM · 销售培训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126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90733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514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F0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开始使用吧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24128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遇到问题先自查：手机联网 / 绑定是否掉线 · 负责人是否是你 · 刷新重试 · 字段没同步先反馈管理员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24128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1262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进步源自创新，微小可以宏大。　Progress Originates from Innovation. Many a Micro Makes a Macro.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24128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© NEW HONGDA 新宏大集团 · 内部培训资料 · 2026-08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新宏大 AI 智能 CRM 销售操作培训</dc:title>
  <dc:subject>PptxGenJS Presentation</dc:subject>
  <dc:creator>NEW HONGDA</dc:creator>
  <cp:lastModifiedBy>NEW HONGDA</cp:lastModifiedBy>
  <cp:revision>1</cp:revision>
  <dcterms:created xsi:type="dcterms:W3CDTF">2026-08-13T05:33:11Z</dcterms:created>
  <dcterms:modified xsi:type="dcterms:W3CDTF">2026-08-13T05:33:11Z</dcterms:modified>
</cp:coreProperties>
</file>